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4"/>
  </p:sldMasterIdLst>
  <p:notesMasterIdLst>
    <p:notesMasterId r:id="rId6"/>
  </p:notesMasterIdLst>
  <p:sldIdLst>
    <p:sldId id="277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A7CD4-9939-5C40-E03A-03B47071FEB2}" v="624" dt="2026-10-04T15:16:05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8" autoAdjust="0"/>
    <p:restoredTop sz="94725"/>
  </p:normalViewPr>
  <p:slideViewPr>
    <p:cSldViewPr snapToGrid="0">
      <p:cViewPr varScale="1">
        <p:scale>
          <a:sx n="105" d="100"/>
          <a:sy n="105" d="100"/>
        </p:scale>
        <p:origin x="8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83589-15D9-4CFE-9B4B-26AE81DF1623}" type="datetimeFigureOut">
              <a:rPr lang="it-IT" smtClean="0"/>
              <a:t>04/10/2026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E6542-C006-42EB-AFFB-A9CDF48A3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92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EE60B4-5E75-47B1-8ECC-4F5809CE13DE}" type="slidenum">
              <a:rPr kumimoji="0" lang="it-IT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58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6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33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9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8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0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4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1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  <a:alpha val="5000"/>
              </a:schemeClr>
            </a:gs>
            <a:gs pos="0">
              <a:schemeClr val="accent1">
                <a:lumMod val="60000"/>
                <a:lumOff val="40000"/>
              </a:schemeClr>
            </a:gs>
            <a:gs pos="41500">
              <a:srgbClr val="D3E0EF"/>
            </a:gs>
            <a:gs pos="22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30000"/>
                <a:lumOff val="70000"/>
              </a:schemeClr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rot="-5400000">
            <a:off x="2675991" y="3644434"/>
            <a:ext cx="221229" cy="557321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 dirty="0"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6348813" y="0"/>
            <a:ext cx="5843187" cy="4124189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65999"/>
          </a:blip>
          <a:srcRect/>
          <a:stretch>
            <a:fillRect/>
          </a:stretch>
        </p:blipFill>
        <p:spPr>
          <a:xfrm rot="2113473">
            <a:off x="9457791" y="1241140"/>
            <a:ext cx="2391368" cy="164130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 rot="12935635">
            <a:off x="8485418" y="1091822"/>
            <a:ext cx="2137901" cy="106895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8395891" y="1169232"/>
            <a:ext cx="1749032" cy="1785725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 rot="-5400000">
            <a:off x="3325708" y="-2375208"/>
            <a:ext cx="45719" cy="669713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/>
          </a:p>
        </p:txBody>
      </p:sp>
      <p:grpSp>
        <p:nvGrpSpPr>
          <p:cNvPr id="18" name="Group 18"/>
          <p:cNvGrpSpPr/>
          <p:nvPr/>
        </p:nvGrpSpPr>
        <p:grpSpPr>
          <a:xfrm>
            <a:off x="6208692" y="2585628"/>
            <a:ext cx="5542805" cy="3295564"/>
            <a:chOff x="0" y="-28575"/>
            <a:chExt cx="11085609" cy="659112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2857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38469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5904167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8EA501-835F-484F-B384-C4D371500386}"/>
              </a:ext>
            </a:extLst>
          </p:cNvPr>
          <p:cNvSpPr txBox="1"/>
          <p:nvPr/>
        </p:nvSpPr>
        <p:spPr>
          <a:xfrm>
            <a:off x="5618967" y="4327037"/>
            <a:ext cx="6392703" cy="733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000"/>
              </a:lnSpc>
            </a:pPr>
            <a:endParaRPr lang="en-US" sz="800" b="1" spc="20" dirty="0">
              <a:solidFill>
                <a:srgbClr val="F2F0F4"/>
              </a:solidFill>
              <a:latin typeface="Times New Roman" pitchFamily="18" charset="0"/>
              <a:cs typeface="Times New Roman" pitchFamily="18" charset="0"/>
            </a:endParaRPr>
          </a:p>
          <a:p>
            <a:pPr defTabSz="609630">
              <a:lnSpc>
                <a:spcPts val="3000"/>
              </a:lnSpc>
            </a:pPr>
            <a:endParaRPr lang="en-US" sz="2000" b="1" spc="20" dirty="0">
              <a:solidFill>
                <a:srgbClr val="F2F0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Group 18">
            <a:extLst>
              <a:ext uri="{FF2B5EF4-FFF2-40B4-BE49-F238E27FC236}">
                <a16:creationId xmlns:a16="http://schemas.microsoft.com/office/drawing/2014/main" id="{AD235C3A-AD37-456B-8F0E-D2AFFCCF60F9}"/>
              </a:ext>
            </a:extLst>
          </p:cNvPr>
          <p:cNvGrpSpPr/>
          <p:nvPr/>
        </p:nvGrpSpPr>
        <p:grpSpPr>
          <a:xfrm>
            <a:off x="6242796" y="2853404"/>
            <a:ext cx="5542805" cy="3295564"/>
            <a:chOff x="0" y="-28575"/>
            <a:chExt cx="11085609" cy="6591128"/>
          </a:xfrm>
        </p:grpSpPr>
        <p:sp>
          <p:nvSpPr>
            <p:cNvPr id="28" name="TextBox 19">
              <a:extLst>
                <a:ext uri="{FF2B5EF4-FFF2-40B4-BE49-F238E27FC236}">
                  <a16:creationId xmlns:a16="http://schemas.microsoft.com/office/drawing/2014/main" id="{6C160FFC-BF29-40F3-9662-4F5DC9DA4EF0}"/>
                </a:ext>
              </a:extLst>
            </p:cNvPr>
            <p:cNvSpPr txBox="1"/>
            <p:nvPr/>
          </p:nvSpPr>
          <p:spPr>
            <a:xfrm>
              <a:off x="0" y="-2857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37A003FB-B7AE-4AB2-978F-771A1EA796A4}"/>
                </a:ext>
              </a:extLst>
            </p:cNvPr>
            <p:cNvSpPr txBox="1"/>
            <p:nvPr/>
          </p:nvSpPr>
          <p:spPr>
            <a:xfrm>
              <a:off x="0" y="1098185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4FB01D0-B2AF-4013-BD0D-EE6A420013C5}"/>
                </a:ext>
              </a:extLst>
            </p:cNvPr>
            <p:cNvSpPr txBox="1"/>
            <p:nvPr/>
          </p:nvSpPr>
          <p:spPr>
            <a:xfrm>
              <a:off x="0" y="238469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421DA5D8-F9E7-4C92-A2B2-C01D4DBDAA0F}"/>
                </a:ext>
              </a:extLst>
            </p:cNvPr>
            <p:cNvSpPr txBox="1"/>
            <p:nvPr/>
          </p:nvSpPr>
          <p:spPr>
            <a:xfrm>
              <a:off x="0" y="3511453"/>
              <a:ext cx="11085609" cy="697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lang="en-US" sz="2000" b="1" spc="20" dirty="0">
                <a:solidFill>
                  <a:srgbClr val="F2F0F4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2D2E34D3-BE8D-4319-910B-C2640377823E}"/>
                </a:ext>
              </a:extLst>
            </p:cNvPr>
            <p:cNvSpPr txBox="1"/>
            <p:nvPr/>
          </p:nvSpPr>
          <p:spPr>
            <a:xfrm>
              <a:off x="0" y="4806831"/>
              <a:ext cx="11085609" cy="620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600"/>
                </a:lnSpc>
              </a:pPr>
              <a:endParaRPr lang="en-US" sz="2000" b="1" spc="180" dirty="0">
                <a:solidFill>
                  <a:srgbClr val="F2F0F4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24">
              <a:extLst>
                <a:ext uri="{FF2B5EF4-FFF2-40B4-BE49-F238E27FC236}">
                  <a16:creationId xmlns:a16="http://schemas.microsoft.com/office/drawing/2014/main" id="{46756D82-5ADF-430B-B905-23098C200493}"/>
                </a:ext>
              </a:extLst>
            </p:cNvPr>
            <p:cNvSpPr txBox="1"/>
            <p:nvPr/>
          </p:nvSpPr>
          <p:spPr>
            <a:xfrm>
              <a:off x="0" y="5904167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" name="CasellaDiTesto 3">
            <a:extLst>
              <a:ext uri="{FF2B5EF4-FFF2-40B4-BE49-F238E27FC236}">
                <a16:creationId xmlns:a16="http://schemas.microsoft.com/office/drawing/2014/main" id="{6A00E37B-C9F2-4FCD-F63D-5A5BAAC8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55" y="256643"/>
            <a:ext cx="88339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0" hangingPunct="0"/>
            <a:r>
              <a:rPr lang="en-GB" sz="2800" b="1" dirty="0"/>
              <a:t>Corso di </a:t>
            </a:r>
            <a:r>
              <a:rPr lang="en-GB" sz="2800" b="1" dirty="0" err="1"/>
              <a:t>laurea</a:t>
            </a:r>
            <a:r>
              <a:rPr lang="en-GB" sz="2800" b="1" dirty="0"/>
              <a:t> in </a:t>
            </a:r>
            <a:r>
              <a:rPr lang="en-GB" sz="2800" b="1" dirty="0" err="1"/>
              <a:t>Ingegneria</a:t>
            </a:r>
            <a:r>
              <a:rPr lang="en-GB" sz="2800" b="1" dirty="0"/>
              <a:t> Informatica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E6DEE76-0B03-A5FD-45DF-EF94C375475D}"/>
              </a:ext>
            </a:extLst>
          </p:cNvPr>
          <p:cNvSpPr txBox="1"/>
          <p:nvPr/>
        </p:nvSpPr>
        <p:spPr>
          <a:xfrm>
            <a:off x="177627" y="3255556"/>
            <a:ext cx="5446440" cy="2885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650" dirty="0">
                <a:ea typeface="+mn-lt"/>
                <a:cs typeface="+mn-lt"/>
              </a:rPr>
              <a:t>La tesi presenta un </a:t>
            </a:r>
            <a:r>
              <a:rPr lang="it-IT" sz="1650" b="1" dirty="0">
                <a:ea typeface="+mn-lt"/>
                <a:cs typeface="+mn-lt"/>
              </a:rPr>
              <a:t>monitor di accessi ai file</a:t>
            </a:r>
            <a:r>
              <a:rPr lang="it-IT" sz="1650" dirty="0">
                <a:ea typeface="+mn-lt"/>
                <a:cs typeface="+mn-lt"/>
              </a:rPr>
              <a:t>, cioè un programma che segnala aperture e operazioni su file sensibili.</a:t>
            </a:r>
            <a:endParaRPr lang="it-IT">
              <a:ea typeface="Calibri"/>
              <a:cs typeface="Calibri"/>
            </a:endParaRPr>
          </a:p>
          <a:p>
            <a:r>
              <a:rPr lang="it-IT" sz="1650" dirty="0">
                <a:ea typeface="+mn-lt"/>
                <a:cs typeface="+mn-lt"/>
              </a:rPr>
              <a:t>Il programma usa</a:t>
            </a:r>
            <a:r>
              <a:rPr lang="it-IT" sz="1650" b="1" dirty="0">
                <a:ea typeface="+mn-lt"/>
                <a:cs typeface="+mn-lt"/>
              </a:rPr>
              <a:t> </a:t>
            </a:r>
            <a:r>
              <a:rPr lang="it-IT" sz="1650" b="1" dirty="0" err="1">
                <a:ea typeface="+mn-lt"/>
                <a:cs typeface="+mn-lt"/>
              </a:rPr>
              <a:t>eBPF</a:t>
            </a:r>
            <a:r>
              <a:rPr lang="it-IT" sz="1650" dirty="0">
                <a:ea typeface="+mn-lt"/>
                <a:cs typeface="+mn-lt"/>
              </a:rPr>
              <a:t>, una tecnologia che permette di caricare piccoli programmi nel </a:t>
            </a:r>
            <a:r>
              <a:rPr lang="it-IT" sz="1650" b="1" dirty="0">
                <a:ea typeface="+mn-lt"/>
                <a:cs typeface="+mn-lt"/>
              </a:rPr>
              <a:t>kernel</a:t>
            </a:r>
            <a:r>
              <a:rPr lang="it-IT" sz="1650" dirty="0">
                <a:ea typeface="+mn-lt"/>
                <a:cs typeface="+mn-lt"/>
              </a:rPr>
              <a:t>, la parte del sistema operativo da cui passa ogni accesso ai file.</a:t>
            </a:r>
            <a:endParaRPr lang="it-IT" sz="1650" dirty="0">
              <a:ea typeface="Calibri"/>
              <a:cs typeface="Calibri"/>
            </a:endParaRPr>
          </a:p>
          <a:p>
            <a:r>
              <a:rPr lang="it-IT" sz="1650" dirty="0">
                <a:ea typeface="+mn-lt"/>
                <a:cs typeface="+mn-lt"/>
              </a:rPr>
              <a:t>Il lavoro si è concentrato sul riconoscimento corretto di un file anche quando questo viene salvato da un editor, rinominato, raggiunto con un altro nome o aperto in un container.</a:t>
            </a:r>
          </a:p>
          <a:p>
            <a:r>
              <a:rPr lang="it-IT" sz="1650" dirty="0">
                <a:ea typeface="+mn-lt"/>
                <a:cs typeface="+mn-lt"/>
              </a:rPr>
              <a:t>È stato sviluppato un prototipo basato su una strategia di riconoscimento </a:t>
            </a:r>
            <a:r>
              <a:rPr lang="it-IT" sz="1650" b="1" dirty="0">
                <a:ea typeface="+mn-lt"/>
                <a:cs typeface="+mn-lt"/>
              </a:rPr>
              <a:t>ibrida </a:t>
            </a:r>
            <a:r>
              <a:rPr lang="it-IT" sz="1650" dirty="0">
                <a:ea typeface="+mn-lt"/>
                <a:cs typeface="+mn-lt"/>
              </a:rPr>
              <a:t>che combina il nome del file, l'oggetto a cui corrisponde e il contesto in cui viene aperto. </a:t>
            </a:r>
            <a:endParaRPr lang="it-IT" sz="1650" dirty="0">
              <a:ea typeface="Calibri"/>
              <a:cs typeface="Calibri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A7F071-42B3-9EAF-0C29-0191EDA9E415}"/>
              </a:ext>
            </a:extLst>
          </p:cNvPr>
          <p:cNvSpPr txBox="1"/>
          <p:nvPr/>
        </p:nvSpPr>
        <p:spPr>
          <a:xfrm>
            <a:off x="170094" y="1541403"/>
            <a:ext cx="8693912" cy="1015663"/>
          </a:xfrm>
          <a:prstGeom prst="rect">
            <a:avLst/>
          </a:prstGeom>
          <a:noFill/>
          <a:ln w="28575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 i="1" dirty="0"/>
              <a:t>Prova finale</a:t>
            </a:r>
          </a:p>
          <a:p>
            <a:r>
              <a:rPr lang="en-GB" sz="2000" b="1" dirty="0"/>
              <a:t>Progettazione e realizzazione di un monitor di accessi a file</a:t>
            </a:r>
            <a:endParaRPr lang="en-GB" dirty="0">
              <a:ea typeface="Calibri"/>
              <a:cs typeface="Calibri"/>
            </a:endParaRPr>
          </a:p>
          <a:p>
            <a:r>
              <a:rPr lang="en-GB" sz="2000" b="1" dirty="0">
                <a:ea typeface="Calibri"/>
                <a:cs typeface="Calibri"/>
              </a:rPr>
              <a:t>basato </a:t>
            </a:r>
            <a:r>
              <a:rPr lang="en-GB" sz="2000" b="1" dirty="0" err="1">
                <a:ea typeface="Calibri"/>
                <a:cs typeface="Calibri"/>
              </a:rPr>
              <a:t>su</a:t>
            </a:r>
            <a:r>
              <a:rPr lang="en-GB" sz="2000" b="1" dirty="0">
                <a:ea typeface="Calibri"/>
                <a:cs typeface="Calibri"/>
              </a:rPr>
              <a:t> BPF-LSM </a:t>
            </a:r>
            <a:r>
              <a:rPr lang="en-GB" sz="2000" b="1" dirty="0" err="1">
                <a:ea typeface="Calibri"/>
                <a:cs typeface="Calibri"/>
              </a:rPr>
              <a:t>nel</a:t>
            </a:r>
            <a:r>
              <a:rPr lang="en-GB" sz="2000" b="1" dirty="0">
                <a:ea typeface="Calibri"/>
                <a:cs typeface="Calibri"/>
              </a:rPr>
              <a:t> kernel Linux</a:t>
            </a:r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859A3A89-965B-B393-62B8-47A3E3B0CA89}"/>
              </a:ext>
            </a:extLst>
          </p:cNvPr>
          <p:cNvSpPr/>
          <p:nvPr/>
        </p:nvSpPr>
        <p:spPr>
          <a:xfrm rot="16200000" flipH="1">
            <a:off x="2740972" y="253861"/>
            <a:ext cx="91265" cy="5573213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/>
          </a:p>
        </p:txBody>
      </p:sp>
      <p:sp>
        <p:nvSpPr>
          <p:cNvPr id="15" name="CasellaDiTesto 3">
            <a:extLst>
              <a:ext uri="{FF2B5EF4-FFF2-40B4-BE49-F238E27FC236}">
                <a16:creationId xmlns:a16="http://schemas.microsoft.com/office/drawing/2014/main" id="{DE6692DC-33FF-DFAD-D600-E030455DA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96" y="1026611"/>
            <a:ext cx="6073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0" hangingPunct="0"/>
            <a:r>
              <a:rPr lang="en-GB" sz="2800" b="1" dirty="0" err="1"/>
              <a:t>Laureato</a:t>
            </a:r>
            <a:r>
              <a:rPr lang="en-GB" sz="2800" b="1" dirty="0"/>
              <a:t>: Dott. Luca Maffioli</a:t>
            </a:r>
            <a:endParaRPr lang="en-GB" sz="2800" b="1" dirty="0">
              <a:ea typeface="Calibri"/>
              <a:cs typeface="Calibri"/>
            </a:endParaRPr>
          </a:p>
        </p:txBody>
      </p:sp>
      <p:sp>
        <p:nvSpPr>
          <p:cNvPr id="20" name="CasellaDiTesto 3">
            <a:extLst>
              <a:ext uri="{FF2B5EF4-FFF2-40B4-BE49-F238E27FC236}">
                <a16:creationId xmlns:a16="http://schemas.microsoft.com/office/drawing/2014/main" id="{27DF14AF-9B67-63E9-85BB-C4F12854F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01" y="2591048"/>
            <a:ext cx="4924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0" hangingPunct="0"/>
            <a:r>
              <a:rPr lang="en-GB" b="1" dirty="0" err="1"/>
              <a:t>Relatori</a:t>
            </a:r>
            <a:r>
              <a:rPr lang="en-GB" b="1" dirty="0"/>
              <a:t>: Prof. Giuseppe Lettieri, Dott. Fabio Piras</a:t>
            </a:r>
          </a:p>
        </p:txBody>
      </p:sp>
      <p:pic>
        <p:nvPicPr>
          <p:cNvPr id="16" name="Immagine 15" descr="Immagine che contiene testo, schermata, scherm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FC43B19F-72B4-6D9F-B062-6A031890B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784" y="3213284"/>
            <a:ext cx="4638508" cy="3001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DAC3ED0EBB8B4F9FE54EF51318C557" ma:contentTypeVersion="4" ma:contentTypeDescription="Create a new document." ma:contentTypeScope="" ma:versionID="7e005ef059e69192172a5c7396b466fc">
  <xsd:schema xmlns:xsd="http://www.w3.org/2001/XMLSchema" xmlns:xs="http://www.w3.org/2001/XMLSchema" xmlns:p="http://schemas.microsoft.com/office/2006/metadata/properties" xmlns:ns2="b8f38329-fe82-4838-8fdd-4280d7b6e94e" targetNamespace="http://schemas.microsoft.com/office/2006/metadata/properties" ma:root="true" ma:fieldsID="424c390e64b462513100b9a7e084c2fa" ns2:_="">
    <xsd:import namespace="b8f38329-fe82-4838-8fdd-4280d7b6e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f38329-fe82-4838-8fdd-4280d7b6e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7CD499-5F4A-42A5-8068-7C4C58B63BD9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b8f38329-fe82-4838-8fdd-4280d7b6e94e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D3E8510-347C-488F-90AC-6506B782AE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f38329-fe82-4838-8fdd-4280d7b6e9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8BE7BF-29D8-4C20-8A32-3787C90044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2" baseType="lpstr">
      <vt:lpstr>Office Theme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Monica Puccini</dc:creator>
  <cp:lastModifiedBy>Federica Marazzato</cp:lastModifiedBy>
  <cp:revision>192</cp:revision>
  <dcterms:created xsi:type="dcterms:W3CDTF">2023-06-19T11:45:48Z</dcterms:created>
  <dcterms:modified xsi:type="dcterms:W3CDTF">2026-10-04T15:20:04Z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0x01010075DAC3ED0EBB8B4F9FE54EF51318C557</vt:lpwstr>
  </property>
</Properties>
</file>